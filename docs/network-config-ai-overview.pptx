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6675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2235"/>
                </a:solidFill>
                <a:latin typeface="Aptos"/>
              </a:defRPr>
            </a:pPr>
            <a:r>
              <a:t>AI-Based Multi-Vendor</a:t>
            </a:r>
            <a:br/>
            <a:r>
              <a:t>Network Configuration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33172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718096"/>
                </a:solidFill>
                <a:latin typeface="Aptos"/>
              </a:defRPr>
            </a:pPr>
            <a:r>
              <a:t>Production-oriented automation for intent, approval, deployment, observability, and safe fleet operations.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337560"/>
            <a:ext cx="53035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3447288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64DC"/>
                </a:solidFill>
                <a:latin typeface="Aptos"/>
              </a:defRPr>
            </a:pPr>
            <a:r>
              <a:t>Vendors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3776472"/>
            <a:ext cx="5010912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235"/>
                </a:solidFill>
                <a:latin typeface="Aptos"/>
              </a:defRPr>
            </a:pPr>
            <a:r>
              <a:t>Cisco ? Nokia ? Ericsson ? Openet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087368"/>
            <a:ext cx="53035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4197096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845B"/>
                </a:solidFill>
                <a:latin typeface="Aptos"/>
              </a:defRPr>
            </a:pPr>
            <a:r>
              <a:t>Lab 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4526279"/>
            <a:ext cx="5010912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235"/>
                </a:solidFill>
                <a:latin typeface="Aptos"/>
              </a:defRPr>
            </a:pPr>
            <a:r>
              <a:t>50 devices ? 10 per vendor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837176"/>
            <a:ext cx="53035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A4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4946904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A4BB3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5276088"/>
            <a:ext cx="5010912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235"/>
                </a:solidFill>
                <a:latin typeface="Aptos"/>
              </a:defRPr>
            </a:pPr>
            <a:r>
              <a:t>Agents ? RAG ? MCP ? Grafana</a:t>
            </a:r>
          </a:p>
        </p:txBody>
      </p:sp>
      <p:pic>
        <p:nvPicPr>
          <p:cNvPr id="13" name="Picture 1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914400"/>
            <a:ext cx="4572000" cy="4389361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06640" y="57150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64DC"/>
                </a:solidFill>
                <a:latin typeface="Aptos"/>
              </a:defRPr>
            </a:pPr>
            <a:r>
              <a:t>Network Control 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651052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18096"/>
                </a:solidFill>
                <a:latin typeface="Aptos"/>
              </a:defRPr>
            </a:pPr>
            <a:r>
              <a:t>Network Config AI  |  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35"/>
                </a:solidFill>
                <a:latin typeface="Aptos"/>
              </a:defRPr>
            </a:pPr>
            <a:r>
              <a:t>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  <a:latin typeface="Aptos"/>
              </a:defRPr>
            </a:pPr>
            <a:r>
              <a:t>A controlled northbound-to-southbound workflow with knowledge and observability built 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1488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1527048"/>
            <a:ext cx="1856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64DC"/>
                </a:solidFill>
                <a:latin typeface="Aptos"/>
              </a:defRPr>
            </a:pPr>
            <a:r>
              <a:t>Users &amp;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1856232"/>
            <a:ext cx="185623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235"/>
                </a:solidFill>
                <a:latin typeface="Aptos"/>
              </a:defRPr>
            </a:pPr>
            <a:r>
              <a:t>Dashboard</a:t>
            </a:r>
            <a:br/>
            <a:r>
              <a:t>Discovery ? Tests ? 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417320"/>
            <a:ext cx="21488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8104" y="1527048"/>
            <a:ext cx="1856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845B"/>
                </a:solidFill>
                <a:latin typeface="Aptos"/>
              </a:defRPr>
            </a:pPr>
            <a:r>
              <a:t>FastAPI 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8104" y="1856232"/>
            <a:ext cx="185623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235"/>
                </a:solidFill>
                <a:latin typeface="Aptos"/>
              </a:defRPr>
            </a:pPr>
            <a:r>
              <a:t>Intent ? validation</a:t>
            </a:r>
            <a:br/>
            <a:r>
              <a:t>approval ? inventory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417320"/>
            <a:ext cx="21488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32704" y="1527048"/>
            <a:ext cx="1856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6B00"/>
                </a:solidFill>
                <a:latin typeface="Aptos"/>
              </a:defRPr>
            </a:pPr>
            <a:r>
              <a:t>Vendor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2704" y="1856232"/>
            <a:ext cx="185623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235"/>
                </a:solidFill>
                <a:latin typeface="Aptos"/>
              </a:defRPr>
            </a:pPr>
            <a:r>
              <a:t>Cisco ? Nokia</a:t>
            </a:r>
            <a:br/>
            <a:r>
              <a:t>Ericsson ? Openet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417320"/>
            <a:ext cx="21488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A4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47304" y="1527048"/>
            <a:ext cx="1856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A4BB3"/>
                </a:solidFill>
                <a:latin typeface="Aptos"/>
              </a:defRPr>
            </a:pPr>
            <a:r>
              <a:t>Devices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7304" y="1856232"/>
            <a:ext cx="185623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235"/>
                </a:solidFill>
                <a:latin typeface="Aptos"/>
              </a:defRPr>
            </a:pPr>
            <a:r>
              <a:t>Physical devices</a:t>
            </a:r>
            <a:br/>
            <a:r>
              <a:t>or Cisco simulator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651760" y="1783080"/>
            <a:ext cx="256032" cy="320040"/>
          </a:xfrm>
          <a:prstGeom prst="rightArrow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166360" y="1783080"/>
            <a:ext cx="256032" cy="320040"/>
          </a:xfrm>
          <a:prstGeom prst="rightArrow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680960" y="1783080"/>
            <a:ext cx="256032" cy="320040"/>
          </a:xfrm>
          <a:prstGeom prst="rightArrow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657600"/>
            <a:ext cx="31546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A4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3767328"/>
            <a:ext cx="2862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A4BB3"/>
                </a:solidFill>
                <a:latin typeface="Aptos"/>
              </a:defRPr>
            </a:pPr>
            <a:r>
              <a:t>Knowledge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4096512"/>
            <a:ext cx="286207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235"/>
                </a:solidFill>
                <a:latin typeface="Aptos"/>
              </a:defRPr>
            </a:pPr>
            <a:r>
              <a:t>Vendor catalog</a:t>
            </a:r>
            <a:br/>
            <a:r>
              <a:t>RAG documentation</a:t>
            </a:r>
            <a:br/>
            <a:r>
              <a:t>MCP tools and resources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657600"/>
            <a:ext cx="31546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2584" y="3767328"/>
            <a:ext cx="2862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6B00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4" y="4096512"/>
            <a:ext cx="286207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235"/>
                </a:solidFill>
                <a:latin typeface="Aptos"/>
              </a:defRPr>
            </a:pPr>
            <a:r>
              <a:t>SQLite workflow DB</a:t>
            </a:r>
            <a:br/>
            <a:r>
              <a:t>Audit events ? GitOps history</a:t>
            </a:r>
            <a:br/>
            <a:r>
              <a:t>Credential references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657600"/>
            <a:ext cx="31546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3767328"/>
            <a:ext cx="2862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64DC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4096512"/>
            <a:ext cx="286207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235"/>
                </a:solidFill>
                <a:latin typeface="Aptos"/>
              </a:defRPr>
            </a:pPr>
            <a:r>
              <a:t>Prometheus metrics</a:t>
            </a:r>
            <a:br/>
            <a:r>
              <a:t>Grafana deployment KPIs</a:t>
            </a:r>
            <a:br/>
            <a:r>
              <a:t>Agent Device KPIs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778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2235"/>
                </a:solidFill>
                <a:latin typeface="Aptos"/>
              </a:defRPr>
            </a:pPr>
            <a:r>
              <a:t>Intent  ?  render  ?  review  ?  approve  ?  deploy  ?  verify  ? 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651052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18096"/>
                </a:solidFill>
                <a:latin typeface="Aptos"/>
              </a:defRPr>
            </a:pPr>
            <a:r>
              <a:t>Network Config AI  |  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35"/>
                </a:solidFill>
                <a:latin typeface="Aptos"/>
              </a:defRPr>
            </a:pPr>
            <a:r>
              <a:t>Operator experience and delivery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  <a:latin typeface="Aptos"/>
              </a:defRPr>
            </a:pPr>
            <a:r>
              <a:t>Every production change is reviewable, approval-gated, observable, and testable.</a:t>
            </a:r>
          </a:p>
        </p:txBody>
      </p:sp>
      <p:pic>
        <p:nvPicPr>
          <p:cNvPr id="4" name="Picture 3" descr="mc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120640" cy="2652437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80760" y="1234440"/>
            <a:ext cx="539496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27064" y="1344168"/>
            <a:ext cx="5102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64DC"/>
                </a:solidFill>
                <a:latin typeface="Aptos"/>
              </a:defRPr>
            </a:pPr>
            <a:r>
              <a:t>1  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7064" y="1673352"/>
            <a:ext cx="510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235"/>
                </a:solidFill>
                <a:latin typeface="Aptos"/>
              </a:defRPr>
            </a:pPr>
            <a:r>
              <a:t>Submit normalized intent and select vendor, product, device, and format.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2148840"/>
            <a:ext cx="539496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7064" y="2258568"/>
            <a:ext cx="5102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845B"/>
                </a:solidFill>
                <a:latin typeface="Aptos"/>
              </a:defRPr>
            </a:pPr>
            <a:r>
              <a:t>2  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7064" y="2587752"/>
            <a:ext cx="510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235"/>
                </a:solidFill>
                <a:latin typeface="Aptos"/>
              </a:defRPr>
            </a:pPr>
            <a:r>
              <a:t>Render candidate configuration, apply policy checks, and show the diff.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063240"/>
            <a:ext cx="539496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7064" y="3172968"/>
            <a:ext cx="5102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6B00"/>
                </a:solidFill>
                <a:latin typeface="Aptos"/>
              </a:defRPr>
            </a:pPr>
            <a:r>
              <a:t>3  Approve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064" y="3502152"/>
            <a:ext cx="510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235"/>
                </a:solidFill>
                <a:latin typeface="Aptos"/>
              </a:defRPr>
            </a:pPr>
            <a:r>
              <a:t>Require a separate approver, ticket context, and audit event.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977639"/>
            <a:ext cx="539496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A4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4087368"/>
            <a:ext cx="5102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A4BB3"/>
                </a:solidFill>
                <a:latin typeface="Aptos"/>
              </a:defRPr>
            </a:pPr>
            <a:r>
              <a:t>4  Execute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4416552"/>
            <a:ext cx="510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235"/>
                </a:solidFill>
                <a:latin typeface="Aptos"/>
              </a:defRPr>
            </a:pPr>
            <a:r>
              <a:t>Push through the vendor agent, verify device state, and record metrics.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892040"/>
            <a:ext cx="539496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5001768"/>
            <a:ext cx="5102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64DC"/>
                </a:solidFill>
                <a:latin typeface="Aptos"/>
              </a:defRPr>
            </a:pPr>
            <a:r>
              <a:t>5  Operate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5330952"/>
            <a:ext cx="510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235"/>
                </a:solidFill>
                <a:latin typeface="Aptos"/>
              </a:defRPr>
            </a:pPr>
            <a:r>
              <a:t>Monitor deployment outcomes, connected devices, queue depth, and tests in Grafana.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651052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18096"/>
                </a:solidFill>
                <a:latin typeface="Aptos"/>
              </a:defRPr>
            </a:pPr>
            <a:r>
              <a:t>Network Config AI  |  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35"/>
                </a:solidFill>
                <a:latin typeface="Aptos"/>
              </a:defRPr>
            </a:pPr>
            <a:r>
              <a:t>Production-readiness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  <a:latin typeface="Aptos"/>
              </a:defRPr>
            </a:pPr>
            <a:r>
              <a:t>Recommended next milestones for a resilient enterprise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206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435607"/>
            <a:ext cx="48280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64DC"/>
                </a:solidFill>
                <a:latin typeface="Aptos"/>
              </a:defRPr>
            </a:pPr>
            <a:r>
              <a:t>Safety &amp;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764792"/>
            <a:ext cx="482803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235"/>
                </a:solidFill>
                <a:latin typeface="Aptos"/>
              </a:defRPr>
            </a:pPr>
            <a:r>
              <a:t>OIDC/SSO/MFA ? PostgreSQL ? secrets manager</a:t>
            </a:r>
            <a:br/>
            <a:r>
              <a:t>TLS/mTLS ? policy-as-code ? backups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1206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9944" y="1435607"/>
            <a:ext cx="48280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845B"/>
                </a:solidFill>
                <a:latin typeface="Aptos"/>
              </a:defRPr>
            </a:pPr>
            <a:r>
              <a:t>Reliable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9944" y="1764792"/>
            <a:ext cx="482803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235"/>
                </a:solidFill>
                <a:latin typeface="Aptos"/>
              </a:defRPr>
            </a:pPr>
            <a:r>
              <a:t>Durable queue/workers ? retries ? idempotency</a:t>
            </a:r>
            <a:br/>
            <a:r>
              <a:t>post-deployment verification ? auto rollback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51206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A4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52928"/>
            <a:ext cx="48280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A4BB3"/>
                </a:solidFill>
                <a:latin typeface="Aptos"/>
              </a:defRPr>
            </a:pPr>
            <a:r>
              <a:t>Fleet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182112"/>
            <a:ext cx="482803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235"/>
                </a:solidFill>
                <a:latin typeface="Aptos"/>
              </a:defRPr>
            </a:pPr>
            <a:r>
              <a:t>ARP/NDP ? SNMP ? LLDP/CDP ? drift detection</a:t>
            </a:r>
            <a:br/>
            <a:r>
              <a:t>compliance baselines ? approved onboarding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743200"/>
            <a:ext cx="51206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2852928"/>
            <a:ext cx="48280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6B00"/>
                </a:solidFill>
                <a:latin typeface="Aptos"/>
              </a:defRPr>
            </a:pPr>
            <a:r>
              <a:t>Scale &amp;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3182112"/>
            <a:ext cx="482803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2235"/>
                </a:solidFill>
                <a:latin typeface="Aptos"/>
              </a:defRPr>
            </a:pPr>
            <a:r>
              <a:t>OpenTelemetry ? HA ? multi-tenancy</a:t>
            </a:r>
            <a:br/>
            <a:r>
              <a:t>GitOps promotion ? AI guardrails ? disaster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2235"/>
                </a:solidFill>
                <a:latin typeface="Aptos"/>
              </a:defRPr>
            </a:pPr>
            <a:r>
              <a:t>Target operating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83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864DC"/>
                </a:solidFill>
                <a:latin typeface="Aptos"/>
              </a:defRPr>
            </a:pPr>
            <a:r>
              <a:t>PostgreSQL  +  durable deployment queue  +  policy checks</a:t>
            </a:r>
            <a:br/>
            <a:r>
              <a:t>+ pre-change backup  +  post-change verification  +  automatic rollback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8096"/>
                </a:solidFill>
                <a:latin typeface="Aptos"/>
              </a:defRPr>
            </a:pPr>
            <a:r>
              <a:t>A safe path from production-oriented prototype to enterprise network automation platform.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651052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18096"/>
                </a:solidFill>
                <a:latin typeface="Aptos"/>
              </a:defRPr>
            </a:pPr>
            <a:r>
              <a:t>Network Config AI  |  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